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G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41" y="317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A118C-3123-9883-B81C-E1B245B6D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544E68-CF3B-5D7D-B205-15B234E23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G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1CFEEC-00AC-62EC-F143-B1655C03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6F666F-F4A0-2FFA-FBF6-678723000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EA974C-855C-D055-6269-E79B6102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79357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B0D7D8-2483-A8FE-5695-349C3082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2FF31F-6C87-EC14-F421-9E376DE34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D342F7-0194-F5A6-34E4-62A7B9A8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3793EA-8DFE-5434-DDAB-6F3E4AA0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9C2853-9ACE-C109-F78B-64809C30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233298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B03D88-F53E-290F-4ED4-46994355B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94C432-7169-667A-3BE5-798244205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8366C0-8D66-061E-69B5-A18E2317A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C39528-B01C-83F8-9879-382287B7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0CB712-F50D-80A4-CD2C-A9980E56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221974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70244B-FDD9-393E-EB22-8827B454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9AB079-0F9D-44A3-867E-F0FE5876B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2F34F4-1DA3-AE30-34AD-7E0D28932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30C0FA-D5A4-7313-9D84-70AB40FF3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6AE347-9B65-F582-B85C-8C38184A6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C15ED6-F610-A97A-CF0B-673D07E03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124585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491446-3B4C-B86C-F66D-9185E1933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E716E6-AAAC-5701-0B12-224127F90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56DBEA9-6DE1-5FA0-1C78-7EFEA09B6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CF670EB-9208-C800-8099-0B4FC6F53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8EF515-D489-81BF-FA80-D3F9734149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4C307B2-5DF3-5DA8-C476-5AF086E8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5FD4B73-3246-EFB7-6A9F-C8A9EC5C0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7CABA3-D22E-0F0D-398B-7D34E2B78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4221155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1FDAA1-1924-07AB-894B-5954217AF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6B3EEA-CED0-D598-D96D-3A53793E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36F211-161D-D7D1-BF73-C5235220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EB38A7-4978-F6ED-5985-CC6FBD6F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405598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1B842D4-84BF-EA86-54A2-6B2FD221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BD2B7C-682B-C504-252A-D8E6AA8C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9C0A1B-3219-CB95-90E2-3DAF525C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2801263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23598D-2611-89D6-0126-2E81AEB4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9F0A0E-4EAE-0DF3-22C1-036530E1D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3753BA2-92F9-868A-B005-EC5FDF872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82BEB6-24D8-EE12-C54B-F026E210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DA0FDF-BF5A-9A45-8C5A-4BCF4F99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4C0B76-1E05-C258-73E4-D538366B6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148208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A1878C-A6E9-AB3B-9797-6DACCF3BE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5C90E94-D7B5-66D3-1A17-DBEB32304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G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BE2130-02DA-871E-9D66-EDE838F97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1908B4-A034-D757-8B35-D0EB77E7D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09F5C3-9F33-9D09-D735-04B2AD96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D4D2B9-7044-FEC5-0918-9CC50C46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710669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1A5D29-5BE8-ABCD-5C54-9DBF73CB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C77AF2-C1B9-42CD-DABF-8AB2D0D9C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2A54B6-ECBD-9F48-CE36-22131231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47BF8E-B395-763B-FB33-5C683AA7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CD289A-036B-0458-B1C2-4DBA4657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378085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93EE825-73F8-988F-8563-02B0D807C7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ED512A-782A-3C6F-5283-849A985FC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D6CA9D-74B6-24A4-219A-F3D722D0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5998F7-95FC-ED51-4E11-79083DD5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57F4C5-9419-4B29-5456-0EB371EB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3776552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723BAD5-A270-EA5D-3C52-D598E78F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C4C83C-A3CC-F96B-F1D3-C9D2D0785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CF0599-D2DF-528D-7F49-9F85FE9B2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285DB-FFD0-49A0-8D38-55E3F5DCF33A}" type="datetimeFigureOut">
              <a:rPr lang="fr-GA" smtClean="0"/>
              <a:t>13/04/2026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A81263-4F79-0529-85B6-F312537D3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F159B2-32C3-49B1-5DA7-B7038B681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25F4F-9894-486E-9CD4-BBA92142A76D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110040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G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htnovo.blogspot.it/2017/03/nuovo-sfondo-desktop-Windows-10-cu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dnara.co.kr/bbs/article.html?num=17098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t/windows-logotipo-png-236092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72E18A-7591-EC26-B640-B88F0B0F81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785" b="621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DBC3338-1C63-EDF1-B2FF-D20541976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LES SYSTEMES D’EXPLOITATIONS WINDOWS</a:t>
            </a:r>
            <a:endParaRPr lang="fr-GA">
              <a:solidFill>
                <a:srgbClr val="FFFFFF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C14FAB0-0094-EC11-0D71-E1D521EBF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Tout savoir concernant les innovations </a:t>
            </a:r>
          </a:p>
          <a:p>
            <a:r>
              <a:rPr lang="fr-FR" b="1">
                <a:solidFill>
                  <a:srgbClr val="FFFFFF"/>
                </a:solidFill>
              </a:rPr>
              <a:t>Septembre 2025 - Avril 2025</a:t>
            </a:r>
            <a:endParaRPr lang="fr-GA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728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CAF6CBB9-A31B-046F-FA29-2A0FB0F7390C}"/>
              </a:ext>
            </a:extLst>
          </p:cNvPr>
          <p:cNvSpPr txBox="1"/>
          <p:nvPr/>
        </p:nvSpPr>
        <p:spPr>
          <a:xfrm>
            <a:off x="4925961" y="0"/>
            <a:ext cx="234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Aharoni" panose="02010803020104030203" pitchFamily="2" charset="-79"/>
                <a:cs typeface="Aharoni" panose="02010803020104030203" pitchFamily="2" charset="-79"/>
              </a:rPr>
              <a:t>Frise chronologique</a:t>
            </a:r>
            <a:endParaRPr lang="fr-GA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D4FB618-302A-8185-ABF6-73B8DED6532B}"/>
              </a:ext>
            </a:extLst>
          </p:cNvPr>
          <p:cNvCxnSpPr>
            <a:cxnSpLocks/>
          </p:cNvCxnSpPr>
          <p:nvPr/>
        </p:nvCxnSpPr>
        <p:spPr>
          <a:xfrm flipH="1">
            <a:off x="1676400" y="3429000"/>
            <a:ext cx="1960880" cy="0"/>
          </a:xfrm>
          <a:prstGeom prst="line">
            <a:avLst/>
          </a:prstGeom>
          <a:ln w="15875">
            <a:solidFill>
              <a:schemeClr val="tx1"/>
            </a:solidFill>
            <a:headEnd w="lg" len="lg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rganigramme : Connecteur 13">
            <a:extLst>
              <a:ext uri="{FF2B5EF4-FFF2-40B4-BE49-F238E27FC236}">
                <a16:creationId xmlns:a16="http://schemas.microsoft.com/office/drawing/2014/main" id="{6289F095-03A6-D47C-0AA9-7D3ADB12E06C}"/>
              </a:ext>
            </a:extLst>
          </p:cNvPr>
          <p:cNvSpPr/>
          <p:nvPr/>
        </p:nvSpPr>
        <p:spPr>
          <a:xfrm>
            <a:off x="3637280" y="3213000"/>
            <a:ext cx="432000" cy="432000"/>
          </a:xfrm>
          <a:prstGeom prst="flowChartConnector">
            <a:avLst/>
          </a:prstGeom>
          <a:solidFill>
            <a:srgbClr val="FFC000">
              <a:alpha val="5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A"/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68DA4FD6-7ABB-355D-66E8-EF7F82A9AE7F}"/>
              </a:ext>
            </a:extLst>
          </p:cNvPr>
          <p:cNvSpPr/>
          <p:nvPr/>
        </p:nvSpPr>
        <p:spPr>
          <a:xfrm>
            <a:off x="3704590" y="3289200"/>
            <a:ext cx="297380" cy="2796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A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F9E3410-21F5-3481-45BF-C9B6A5152EBD}"/>
              </a:ext>
            </a:extLst>
          </p:cNvPr>
          <p:cNvSpPr txBox="1"/>
          <p:nvPr/>
        </p:nvSpPr>
        <p:spPr>
          <a:xfrm>
            <a:off x="3279190" y="3721200"/>
            <a:ext cx="1148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Franklin Gothic Heavy" panose="020B0903020102020204" pitchFamily="34" charset="0"/>
                <a:cs typeface="Aharoni" panose="02010803020104030203" pitchFamily="2" charset="-79"/>
              </a:rPr>
              <a:t>Octobre 2025</a:t>
            </a:r>
            <a:endParaRPr lang="fr-GA" sz="1200" dirty="0">
              <a:latin typeface="Franklin Gothic Heavy" panose="020B0903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E7392165-713F-020C-EC0A-E65E63610ECD}"/>
              </a:ext>
            </a:extLst>
          </p:cNvPr>
          <p:cNvSpPr/>
          <p:nvPr/>
        </p:nvSpPr>
        <p:spPr>
          <a:xfrm>
            <a:off x="3637280" y="2476982"/>
            <a:ext cx="438983" cy="736017"/>
          </a:xfrm>
          <a:custGeom>
            <a:avLst/>
            <a:gdLst>
              <a:gd name="csX0" fmla="*/ 170701 w 438983"/>
              <a:gd name="csY0" fmla="*/ 1363980 h 1363980"/>
              <a:gd name="csX1" fmla="*/ 10681 w 438983"/>
              <a:gd name="csY1" fmla="*/ 899160 h 1363980"/>
              <a:gd name="csX2" fmla="*/ 437401 w 438983"/>
              <a:gd name="csY2" fmla="*/ 693420 h 1363980"/>
              <a:gd name="csX3" fmla="*/ 155461 w 438983"/>
              <a:gd name="csY3" fmla="*/ 281940 h 1363980"/>
              <a:gd name="csX4" fmla="*/ 155461 w 438983"/>
              <a:gd name="csY4" fmla="*/ 0 h 1363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8983" h="1363980">
                <a:moveTo>
                  <a:pt x="170701" y="1363980"/>
                </a:moveTo>
                <a:cubicBezTo>
                  <a:pt x="68466" y="1187450"/>
                  <a:pt x="-33769" y="1010920"/>
                  <a:pt x="10681" y="899160"/>
                </a:cubicBezTo>
                <a:cubicBezTo>
                  <a:pt x="55131" y="787400"/>
                  <a:pt x="413271" y="796290"/>
                  <a:pt x="437401" y="693420"/>
                </a:cubicBezTo>
                <a:cubicBezTo>
                  <a:pt x="461531" y="590550"/>
                  <a:pt x="202451" y="397510"/>
                  <a:pt x="155461" y="281940"/>
                </a:cubicBezTo>
                <a:cubicBezTo>
                  <a:pt x="108471" y="166370"/>
                  <a:pt x="131966" y="83185"/>
                  <a:pt x="155461" y="0"/>
                </a:cubicBezTo>
              </a:path>
            </a:pathLst>
          </a:custGeom>
          <a:noFill/>
          <a:ln w="15875"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A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41ED8BD-FC59-29BA-8AAF-2F39B34E7F3D}"/>
              </a:ext>
            </a:extLst>
          </p:cNvPr>
          <p:cNvSpPr txBox="1"/>
          <p:nvPr/>
        </p:nvSpPr>
        <p:spPr>
          <a:xfrm>
            <a:off x="2656840" y="1676951"/>
            <a:ext cx="48960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 de support de Windows 10</a:t>
            </a:r>
          </a:p>
          <a:p>
            <a:r>
              <a:rPr lang="fr-FR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Arrêt des mises à jour de sécurité </a:t>
            </a:r>
          </a:p>
          <a:p>
            <a:r>
              <a:rPr lang="fr-FR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Augmentation des risques de cyberattaques </a:t>
            </a:r>
          </a:p>
          <a:p>
            <a:r>
              <a:rPr lang="fr-FR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Migration vers Windows 11</a:t>
            </a:r>
          </a:p>
          <a:p>
            <a:endParaRPr lang="fr-GA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31E70BE1-C1AB-0DE8-945D-D29E34CD5491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4069280" y="3429000"/>
            <a:ext cx="2026720" cy="0"/>
          </a:xfrm>
          <a:prstGeom prst="line">
            <a:avLst/>
          </a:prstGeom>
          <a:ln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rganigramme : Connecteur 24">
            <a:extLst>
              <a:ext uri="{FF2B5EF4-FFF2-40B4-BE49-F238E27FC236}">
                <a16:creationId xmlns:a16="http://schemas.microsoft.com/office/drawing/2014/main" id="{5B732C6B-E2B8-C85A-39C3-EA84671F01EE}"/>
              </a:ext>
            </a:extLst>
          </p:cNvPr>
          <p:cNvSpPr/>
          <p:nvPr/>
        </p:nvSpPr>
        <p:spPr>
          <a:xfrm>
            <a:off x="5880000" y="3213000"/>
            <a:ext cx="432000" cy="432000"/>
          </a:xfrm>
          <a:prstGeom prst="flowChartConnector">
            <a:avLst/>
          </a:prstGeom>
          <a:solidFill>
            <a:srgbClr val="FFC000">
              <a:alpha val="5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A"/>
          </a:p>
        </p:txBody>
      </p:sp>
      <p:sp>
        <p:nvSpPr>
          <p:cNvPr id="26" name="Organigramme : Connecteur 25">
            <a:extLst>
              <a:ext uri="{FF2B5EF4-FFF2-40B4-BE49-F238E27FC236}">
                <a16:creationId xmlns:a16="http://schemas.microsoft.com/office/drawing/2014/main" id="{3F14D855-793C-9B8C-F755-E2759875E2CF}"/>
              </a:ext>
            </a:extLst>
          </p:cNvPr>
          <p:cNvSpPr/>
          <p:nvPr/>
        </p:nvSpPr>
        <p:spPr>
          <a:xfrm>
            <a:off x="5947310" y="3289200"/>
            <a:ext cx="297380" cy="2796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A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D5907C78-3CC5-AB85-C3EA-425F5848AF6A}"/>
              </a:ext>
            </a:extLst>
          </p:cNvPr>
          <p:cNvSpPr/>
          <p:nvPr/>
        </p:nvSpPr>
        <p:spPr>
          <a:xfrm>
            <a:off x="5930673" y="3669175"/>
            <a:ext cx="415261" cy="868101"/>
          </a:xfrm>
          <a:custGeom>
            <a:avLst/>
            <a:gdLst>
              <a:gd name="csX0" fmla="*/ 192335 w 415261"/>
              <a:gd name="csY0" fmla="*/ 0 h 868101"/>
              <a:gd name="csX1" fmla="*/ 7140 w 415261"/>
              <a:gd name="csY1" fmla="*/ 254643 h 868101"/>
              <a:gd name="csX2" fmla="*/ 412254 w 415261"/>
              <a:gd name="csY2" fmla="*/ 243068 h 868101"/>
              <a:gd name="csX3" fmla="*/ 192335 w 415261"/>
              <a:gd name="csY3" fmla="*/ 567159 h 868101"/>
              <a:gd name="csX4" fmla="*/ 203909 w 415261"/>
              <a:gd name="csY4" fmla="*/ 787078 h 868101"/>
              <a:gd name="csX5" fmla="*/ 296507 w 415261"/>
              <a:gd name="csY5" fmla="*/ 868101 h 868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15261" h="868101">
                <a:moveTo>
                  <a:pt x="192335" y="0"/>
                </a:moveTo>
                <a:cubicBezTo>
                  <a:pt x="81411" y="107066"/>
                  <a:pt x="-29513" y="214132"/>
                  <a:pt x="7140" y="254643"/>
                </a:cubicBezTo>
                <a:cubicBezTo>
                  <a:pt x="43793" y="295154"/>
                  <a:pt x="381388" y="190982"/>
                  <a:pt x="412254" y="243068"/>
                </a:cubicBezTo>
                <a:cubicBezTo>
                  <a:pt x="443120" y="295154"/>
                  <a:pt x="227059" y="476491"/>
                  <a:pt x="192335" y="567159"/>
                </a:cubicBezTo>
                <a:cubicBezTo>
                  <a:pt x="157611" y="657827"/>
                  <a:pt x="186547" y="736921"/>
                  <a:pt x="203909" y="787078"/>
                </a:cubicBezTo>
                <a:cubicBezTo>
                  <a:pt x="221271" y="837235"/>
                  <a:pt x="258889" y="852668"/>
                  <a:pt x="296507" y="868101"/>
                </a:cubicBezTo>
              </a:path>
            </a:pathLst>
          </a:custGeom>
          <a:noFill/>
          <a:ln w="1587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A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AE22116-4C6A-5BB2-6561-A5699251A134}"/>
              </a:ext>
            </a:extLst>
          </p:cNvPr>
          <p:cNvSpPr txBox="1"/>
          <p:nvPr/>
        </p:nvSpPr>
        <p:spPr>
          <a:xfrm>
            <a:off x="4769799" y="4623275"/>
            <a:ext cx="3784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Windows 11 26H1</a:t>
            </a:r>
          </a:p>
          <a:p>
            <a:r>
              <a:rPr lang="fr-FR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Intégration avancée de l’intelligence artificielle (</a:t>
            </a:r>
            <a:r>
              <a:rPr lang="fr-FR" sz="12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Copilot</a:t>
            </a:r>
            <a:r>
              <a:rPr lang="fr-FR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 </a:t>
            </a:r>
          </a:p>
          <a:p>
            <a:r>
              <a:rPr lang="fr-FR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Optimisation pour processeurs NPU </a:t>
            </a:r>
          </a:p>
          <a:p>
            <a:r>
              <a:rPr lang="fr-FR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Renforcement de la sécurité (isolation, kernel) </a:t>
            </a:r>
          </a:p>
          <a:p>
            <a:r>
              <a:rPr lang="fr-FR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Amélioration des performances globales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0A849D7-015A-294A-304C-4F03F9D21593}"/>
              </a:ext>
            </a:extLst>
          </p:cNvPr>
          <p:cNvSpPr txBox="1"/>
          <p:nvPr/>
        </p:nvSpPr>
        <p:spPr>
          <a:xfrm>
            <a:off x="5283490" y="2689224"/>
            <a:ext cx="1575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Janvier 2026 </a:t>
            </a:r>
            <a:endParaRPr lang="fr-GA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395047BE-4E6A-6D16-302D-A11C60F810A8}"/>
              </a:ext>
            </a:extLst>
          </p:cNvPr>
          <p:cNvCxnSpPr>
            <a:cxnSpLocks/>
          </p:cNvCxnSpPr>
          <p:nvPr/>
        </p:nvCxnSpPr>
        <p:spPr>
          <a:xfrm>
            <a:off x="6312000" y="3429000"/>
            <a:ext cx="2026720" cy="0"/>
          </a:xfrm>
          <a:prstGeom prst="line">
            <a:avLst/>
          </a:prstGeom>
          <a:ln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rganigramme : Connecteur 30">
            <a:extLst>
              <a:ext uri="{FF2B5EF4-FFF2-40B4-BE49-F238E27FC236}">
                <a16:creationId xmlns:a16="http://schemas.microsoft.com/office/drawing/2014/main" id="{79E73D26-968C-2347-8433-1BC23B7A89E1}"/>
              </a:ext>
            </a:extLst>
          </p:cNvPr>
          <p:cNvSpPr/>
          <p:nvPr/>
        </p:nvSpPr>
        <p:spPr>
          <a:xfrm>
            <a:off x="8406030" y="3289199"/>
            <a:ext cx="297380" cy="2796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A"/>
          </a:p>
        </p:txBody>
      </p:sp>
      <p:sp>
        <p:nvSpPr>
          <p:cNvPr id="32" name="Organigramme : Connecteur 31">
            <a:extLst>
              <a:ext uri="{FF2B5EF4-FFF2-40B4-BE49-F238E27FC236}">
                <a16:creationId xmlns:a16="http://schemas.microsoft.com/office/drawing/2014/main" id="{B9217647-9DFF-F87A-48ED-2F0E3E6FF873}"/>
              </a:ext>
            </a:extLst>
          </p:cNvPr>
          <p:cNvSpPr/>
          <p:nvPr/>
        </p:nvSpPr>
        <p:spPr>
          <a:xfrm>
            <a:off x="8338720" y="3212999"/>
            <a:ext cx="432000" cy="432000"/>
          </a:xfrm>
          <a:prstGeom prst="flowChartConnector">
            <a:avLst/>
          </a:prstGeom>
          <a:solidFill>
            <a:srgbClr val="FFC000">
              <a:alpha val="5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A" dirty="0"/>
          </a:p>
        </p:txBody>
      </p:sp>
      <p:sp>
        <p:nvSpPr>
          <p:cNvPr id="33" name="Forme libre : forme 32">
            <a:extLst>
              <a:ext uri="{FF2B5EF4-FFF2-40B4-BE49-F238E27FC236}">
                <a16:creationId xmlns:a16="http://schemas.microsoft.com/office/drawing/2014/main" id="{0EE97745-003C-6659-0D7D-03B49ED11181}"/>
              </a:ext>
            </a:extLst>
          </p:cNvPr>
          <p:cNvSpPr/>
          <p:nvPr/>
        </p:nvSpPr>
        <p:spPr>
          <a:xfrm>
            <a:off x="8326882" y="2475103"/>
            <a:ext cx="438983" cy="736017"/>
          </a:xfrm>
          <a:custGeom>
            <a:avLst/>
            <a:gdLst>
              <a:gd name="csX0" fmla="*/ 170701 w 438983"/>
              <a:gd name="csY0" fmla="*/ 1363980 h 1363980"/>
              <a:gd name="csX1" fmla="*/ 10681 w 438983"/>
              <a:gd name="csY1" fmla="*/ 899160 h 1363980"/>
              <a:gd name="csX2" fmla="*/ 437401 w 438983"/>
              <a:gd name="csY2" fmla="*/ 693420 h 1363980"/>
              <a:gd name="csX3" fmla="*/ 155461 w 438983"/>
              <a:gd name="csY3" fmla="*/ 281940 h 1363980"/>
              <a:gd name="csX4" fmla="*/ 155461 w 438983"/>
              <a:gd name="csY4" fmla="*/ 0 h 1363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8983" h="1363980">
                <a:moveTo>
                  <a:pt x="170701" y="1363980"/>
                </a:moveTo>
                <a:cubicBezTo>
                  <a:pt x="68466" y="1187450"/>
                  <a:pt x="-33769" y="1010920"/>
                  <a:pt x="10681" y="899160"/>
                </a:cubicBezTo>
                <a:cubicBezTo>
                  <a:pt x="55131" y="787400"/>
                  <a:pt x="413271" y="796290"/>
                  <a:pt x="437401" y="693420"/>
                </a:cubicBezTo>
                <a:cubicBezTo>
                  <a:pt x="461531" y="590550"/>
                  <a:pt x="202451" y="397510"/>
                  <a:pt x="155461" y="281940"/>
                </a:cubicBezTo>
                <a:cubicBezTo>
                  <a:pt x="108471" y="166370"/>
                  <a:pt x="131966" y="83185"/>
                  <a:pt x="155461" y="0"/>
                </a:cubicBezTo>
              </a:path>
            </a:pathLst>
          </a:custGeom>
          <a:noFill/>
          <a:ln w="15875"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A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E1D6D8E-1B70-30AD-11FD-907064BA789F}"/>
              </a:ext>
            </a:extLst>
          </p:cNvPr>
          <p:cNvSpPr txBox="1"/>
          <p:nvPr/>
        </p:nvSpPr>
        <p:spPr>
          <a:xfrm>
            <a:off x="6936645" y="919595"/>
            <a:ext cx="489609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err="1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Builds</a:t>
            </a:r>
            <a:r>
              <a:rPr lang="fr-FR" sz="11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26200.8037 / 26100.8037</a:t>
            </a:r>
          </a:p>
          <a:p>
            <a:r>
              <a:rPr lang="fr-FR" sz="11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26100.8037 (branche 25H2)</a:t>
            </a:r>
            <a:r>
              <a:rPr lang="fr-FR" sz="1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  <a:p>
            <a:pPr lvl="1"/>
            <a:r>
              <a:rPr lang="fr-FR" sz="1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Correctifs de vulnérabilités (patch sécurité cumulatif) </a:t>
            </a:r>
          </a:p>
          <a:p>
            <a:pPr lvl="1"/>
            <a:r>
              <a:rPr lang="fr-FR" sz="1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Amélioration de la compatibilité applicative </a:t>
            </a:r>
          </a:p>
          <a:p>
            <a:pPr lvl="1"/>
            <a:r>
              <a:rPr lang="fr-FR" sz="1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Stabilisation du système après déploiement 25H1 </a:t>
            </a:r>
          </a:p>
          <a:p>
            <a:r>
              <a:rPr lang="fr-FR" sz="11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26200.8037 (branche 26H1)</a:t>
            </a:r>
            <a:r>
              <a:rPr lang="fr-FR" sz="1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  <a:p>
            <a:pPr lvl="1"/>
            <a:r>
              <a:rPr lang="fr-FR" sz="1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Correctifs liés aux nouvelles fonctions IA (</a:t>
            </a:r>
            <a:r>
              <a:rPr lang="fr-FR" sz="11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Copilot</a:t>
            </a:r>
            <a:r>
              <a:rPr lang="fr-FR" sz="1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/ NPU) </a:t>
            </a:r>
          </a:p>
          <a:p>
            <a:pPr lvl="1"/>
            <a:r>
              <a:rPr lang="fr-FR" sz="1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Optimisation des performances sur matériel récent </a:t>
            </a:r>
          </a:p>
          <a:p>
            <a:pPr lvl="1"/>
            <a:r>
              <a:rPr lang="fr-FR" sz="1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Corrections de bugs liés à la sécurité avancée (virtualisation, isolation)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44D34AD1-3F9A-44C9-3CA2-33308164FB0B}"/>
              </a:ext>
            </a:extLst>
          </p:cNvPr>
          <p:cNvSpPr txBox="1"/>
          <p:nvPr/>
        </p:nvSpPr>
        <p:spPr>
          <a:xfrm>
            <a:off x="8007303" y="3730998"/>
            <a:ext cx="1377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Mars 2026</a:t>
            </a:r>
            <a:endParaRPr lang="fr-GA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875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F7DD9B-264F-3964-A8F7-3853B1D250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1488" b="1351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CF8BB17-9CF2-E475-1EBD-DA3E9B4B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SYNTHESE </a:t>
            </a:r>
            <a:endParaRPr lang="fr-GA">
              <a:solidFill>
                <a:srgbClr val="FFFFF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1C63DA-FE97-96EF-22C7-BCA10D3CE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L’évolution de Microsoft Windows montre un passage :</a:t>
            </a:r>
          </a:p>
          <a:p>
            <a:r>
              <a:rPr lang="fr-FR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d’un système classique → à un système sécurisé et intelligent </a:t>
            </a:r>
          </a:p>
          <a:p>
            <a:r>
              <a:rPr lang="fr-FR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d’une utilisation standard → à une intégration forte de l’IA </a:t>
            </a:r>
          </a:p>
          <a:p>
            <a:r>
              <a:rPr lang="fr-FR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Les innovations majeures concernent :</a:t>
            </a:r>
          </a:p>
          <a:p>
            <a:r>
              <a:rPr lang="fr-FR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sécurité (TPM, isolation, protection avancée) </a:t>
            </a:r>
          </a:p>
          <a:p>
            <a:r>
              <a:rPr lang="fr-FR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les performances (optimisation matériel récent) </a:t>
            </a:r>
          </a:p>
          <a:p>
            <a:r>
              <a:rPr lang="fr-FR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l’intelligence artificielle (Copilot, automatisation)</a:t>
            </a:r>
          </a:p>
          <a:p>
            <a:endParaRPr lang="fr-GA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646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193</Words>
  <Application>Microsoft Office PowerPoint</Application>
  <PresentationFormat>Grand écran</PresentationFormat>
  <Paragraphs>33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ADLaM Display</vt:lpstr>
      <vt:lpstr>Aharoni</vt:lpstr>
      <vt:lpstr>Aptos</vt:lpstr>
      <vt:lpstr>Aptos Display</vt:lpstr>
      <vt:lpstr>Arial</vt:lpstr>
      <vt:lpstr>Franklin Gothic Heavy</vt:lpstr>
      <vt:lpstr>Thème Office</vt:lpstr>
      <vt:lpstr>LES SYSTEMES D’EXPLOITATIONS WINDOWS</vt:lpstr>
      <vt:lpstr>Présentation PowerPoint</vt:lpstr>
      <vt:lpstr>SYNTHESE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OGANDAGA HENOC-ALAN</dc:creator>
  <cp:lastModifiedBy>OGANDAGA HENOC-ALAN</cp:lastModifiedBy>
  <cp:revision>1</cp:revision>
  <dcterms:created xsi:type="dcterms:W3CDTF">2026-04-13T18:54:02Z</dcterms:created>
  <dcterms:modified xsi:type="dcterms:W3CDTF">2026-04-13T20:37:11Z</dcterms:modified>
</cp:coreProperties>
</file>